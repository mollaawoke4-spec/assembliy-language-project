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-53340" y="170815"/>
            <a:ext cx="12192000" cy="6758305"/>
          </a:xfrm>
          <a:prstGeom prst="rect">
            <a:avLst/>
          </a:prstGeom>
        </p:spPr>
        <p:txBody>
          <a:bodyPr>
            <a:noAutofit/>
          </a:bodyPr>
          <a:p>
            <a:pPr algn="ctr"/>
            <a:endParaRPr sz="1600"/>
          </a:p>
          <a:p>
            <a:pPr algn="ctr"/>
            <a:endParaRPr sz="1600"/>
          </a:p>
          <a:p>
            <a:pPr algn="ctr"/>
            <a:endParaRPr sz="1600"/>
          </a:p>
          <a:p>
            <a:pPr algn="ctr"/>
            <a:r>
              <a:rPr sz="2800" b="1">
                <a:solidFill>
                  <a:srgbClr val="00B050"/>
                </a:solidFill>
              </a:rPr>
              <a:t>College of engineering and technology</a:t>
            </a:r>
            <a:endParaRPr sz="2800" b="1">
              <a:solidFill>
                <a:srgbClr val="00B050"/>
              </a:solidFill>
            </a:endParaRPr>
          </a:p>
          <a:p>
            <a:pPr algn="ctr"/>
            <a:r>
              <a:rPr sz="2800" b="1">
                <a:solidFill>
                  <a:srgbClr val="00B050"/>
                </a:solidFill>
              </a:rPr>
              <a:t> </a:t>
            </a:r>
            <a:r>
              <a:rPr sz="2400" b="1">
                <a:solidFill>
                  <a:srgbClr val="00B050"/>
                </a:solidFill>
              </a:rPr>
              <a:t>Department of computer science</a:t>
            </a:r>
            <a:r>
              <a:rPr sz="2800" b="1">
                <a:solidFill>
                  <a:srgbClr val="00B050"/>
                </a:solidFill>
              </a:rPr>
              <a:t> </a:t>
            </a:r>
            <a:endParaRPr sz="2800" b="1">
              <a:solidFill>
                <a:srgbClr val="00B050"/>
              </a:solidFill>
            </a:endParaRPr>
          </a:p>
          <a:p>
            <a:pPr algn="ctr"/>
            <a:r>
              <a:rPr sz="2000" b="1"/>
              <a:t>Course title :</a:t>
            </a:r>
            <a:r>
              <a:rPr lang="en-US" altLang="en-GB" b="1" u="sng">
                <a:solidFill>
                  <a:srgbClr val="7030A0"/>
                </a:solidFill>
              </a:rPr>
              <a:t>micro processor &amp; assembly language</a:t>
            </a:r>
            <a:endParaRPr lang="en-US" altLang="en-GB" sz="1600"/>
          </a:p>
          <a:p>
            <a:pPr algn="ctr"/>
            <a:r>
              <a:rPr b="1">
                <a:solidFill>
                  <a:srgbClr val="7030A0"/>
                </a:solidFill>
              </a:rPr>
              <a:t> (Course code :CoSc 3061) </a:t>
            </a:r>
            <a:endParaRPr b="1">
              <a:solidFill>
                <a:srgbClr val="7030A0"/>
              </a:solidFill>
            </a:endParaRPr>
          </a:p>
          <a:p>
            <a:pPr algn="l"/>
            <a:r>
              <a:rPr lang="en-GB" b="1">
                <a:solidFill>
                  <a:srgbClr val="C00000"/>
                </a:solidFill>
              </a:rPr>
              <a:t>                             </a:t>
            </a:r>
            <a:r>
              <a:rPr lang="en-GB">
                <a:solidFill>
                  <a:srgbClr val="00B0F0"/>
                </a:solidFill>
              </a:rPr>
              <a:t>G</a:t>
            </a:r>
            <a:r>
              <a:rPr>
                <a:solidFill>
                  <a:srgbClr val="00B0F0"/>
                </a:solidFill>
              </a:rPr>
              <a:t>roup members</a:t>
            </a:r>
            <a:endParaRPr b="1">
              <a:solidFill>
                <a:srgbClr val="C00000"/>
              </a:solidFill>
            </a:endParaRPr>
          </a:p>
          <a:p>
            <a:pPr algn="l"/>
            <a:r>
              <a:rPr b="1">
                <a:solidFill>
                  <a:srgbClr val="C00000"/>
                </a:solidFill>
              </a:rPr>
              <a:t> </a:t>
            </a:r>
            <a:r>
              <a:rPr lang="en-GB" b="1">
                <a:solidFill>
                  <a:srgbClr val="C00000"/>
                </a:solidFill>
              </a:rPr>
              <a:t>           </a:t>
            </a:r>
            <a:r>
              <a:rPr b="1">
                <a:solidFill>
                  <a:srgbClr val="C00000"/>
                </a:solidFill>
              </a:rPr>
              <a:t>NAME</a:t>
            </a:r>
            <a:r>
              <a:rPr lang="en-GB" b="1">
                <a:solidFill>
                  <a:srgbClr val="C00000"/>
                </a:solidFill>
              </a:rPr>
              <a:t>                                                                   </a:t>
            </a:r>
            <a:r>
              <a:rPr b="1">
                <a:solidFill>
                  <a:srgbClr val="C00000"/>
                </a:solidFill>
                <a:sym typeface="+mn-ea"/>
              </a:rPr>
              <a:t>ID NO </a:t>
            </a:r>
            <a:endParaRPr b="1">
              <a:solidFill>
                <a:srgbClr val="C00000"/>
              </a:solidFill>
            </a:endParaRPr>
          </a:p>
          <a:p>
            <a:pPr algn="l"/>
            <a:r>
              <a:rPr lang="en-GB" b="1">
                <a:solidFill>
                  <a:srgbClr val="C00000"/>
                </a:solidFill>
              </a:rPr>
              <a:t>  </a:t>
            </a:r>
            <a:endParaRPr sz="1600" b="1">
              <a:solidFill>
                <a:srgbClr val="C00000"/>
              </a:solidFill>
            </a:endParaRPr>
          </a:p>
          <a:p>
            <a:r>
              <a:rPr lang="en-GB" sz="1600"/>
              <a:t>    </a:t>
            </a:r>
            <a:r>
              <a:rPr lang="en-GB" sz="1600" b="1"/>
              <a:t>      </a:t>
            </a:r>
            <a:r>
              <a:rPr sz="1600" b="1"/>
              <a:t>1,</a:t>
            </a:r>
            <a:r>
              <a:rPr lang="en-GB" sz="1600" b="1"/>
              <a:t> </a:t>
            </a:r>
            <a:r>
              <a:rPr sz="1600" b="1"/>
              <a:t>FERDOUS MOHAMMED SALAH</a:t>
            </a:r>
            <a:r>
              <a:rPr lang="en-GB" sz="1600" b="1"/>
              <a:t>                                 </a:t>
            </a:r>
            <a:r>
              <a:rPr sz="1600" b="1">
                <a:sym typeface="+mn-ea"/>
              </a:rPr>
              <a:t>0156</a:t>
            </a:r>
            <a:endParaRPr sz="1600" b="1"/>
          </a:p>
          <a:p>
            <a:r>
              <a:rPr sz="1600" b="1"/>
              <a:t> </a:t>
            </a:r>
            <a:r>
              <a:rPr lang="en-GB" sz="1600" b="1"/>
              <a:t>         </a:t>
            </a:r>
            <a:r>
              <a:rPr sz="1600" b="1"/>
              <a:t>2,</a:t>
            </a:r>
            <a:r>
              <a:rPr lang="en-GB" sz="1600" b="1"/>
              <a:t> </a:t>
            </a:r>
            <a:r>
              <a:rPr sz="1600" b="1"/>
              <a:t>FIKIR ASHENAFI HAILEMARIAM</a:t>
            </a:r>
            <a:r>
              <a:rPr lang="en-GB" sz="1600" b="1"/>
              <a:t>                                 </a:t>
            </a:r>
            <a:r>
              <a:rPr sz="1600" b="1">
                <a:sym typeface="+mn-ea"/>
              </a:rPr>
              <a:t>0346</a:t>
            </a:r>
            <a:endParaRPr sz="1600" b="1"/>
          </a:p>
          <a:p>
            <a:r>
              <a:rPr sz="1600" b="1"/>
              <a:t> </a:t>
            </a:r>
            <a:r>
              <a:rPr lang="en-GB" sz="1600" b="1"/>
              <a:t>         </a:t>
            </a:r>
            <a:r>
              <a:rPr sz="1600" b="1"/>
              <a:t>3,</a:t>
            </a:r>
            <a:r>
              <a:rPr lang="en-GB" sz="1600" b="1"/>
              <a:t> </a:t>
            </a:r>
            <a:r>
              <a:rPr sz="1600" b="1"/>
              <a:t>LIDIYA SOLOMON MERGA </a:t>
            </a:r>
            <a:r>
              <a:rPr sz="1600" b="1">
                <a:sym typeface="+mn-ea"/>
              </a:rPr>
              <a:t> </a:t>
            </a:r>
            <a:r>
              <a:rPr lang="en-GB" sz="1600" b="1">
                <a:sym typeface="+mn-ea"/>
              </a:rPr>
              <a:t>                                         </a:t>
            </a:r>
            <a:r>
              <a:rPr sz="1600" b="1">
                <a:sym typeface="+mn-ea"/>
              </a:rPr>
              <a:t>0166</a:t>
            </a:r>
            <a:endParaRPr sz="1600" b="1"/>
          </a:p>
          <a:p>
            <a:r>
              <a:rPr lang="en-GB" sz="1600" b="1"/>
              <a:t>          </a:t>
            </a:r>
            <a:r>
              <a:rPr sz="1600" b="1"/>
              <a:t>4,</a:t>
            </a:r>
            <a:r>
              <a:rPr lang="en-GB" sz="1600" b="1"/>
              <a:t> </a:t>
            </a:r>
            <a:r>
              <a:rPr sz="1600" b="1"/>
              <a:t>MOLLA AWOKE TRUNEH</a:t>
            </a:r>
            <a:r>
              <a:rPr lang="en-GB" sz="1600" b="1"/>
              <a:t>                                              </a:t>
            </a:r>
            <a:r>
              <a:rPr sz="1600" b="1">
                <a:sym typeface="+mn-ea"/>
              </a:rPr>
              <a:t>0410</a:t>
            </a:r>
            <a:endParaRPr sz="1600" b="1"/>
          </a:p>
          <a:p>
            <a:r>
              <a:rPr sz="1600" b="1"/>
              <a:t> </a:t>
            </a:r>
            <a:r>
              <a:rPr lang="en-GB" sz="1600" b="1"/>
              <a:t>        </a:t>
            </a:r>
            <a:r>
              <a:rPr sz="1600" b="1"/>
              <a:t>5,</a:t>
            </a:r>
            <a:r>
              <a:rPr lang="en-GB" sz="1600" b="1"/>
              <a:t> </a:t>
            </a:r>
            <a:r>
              <a:rPr sz="1600" b="1"/>
              <a:t>YESHUIWERK CHEKOL TSHAY</a:t>
            </a:r>
            <a:r>
              <a:rPr sz="1600" b="1">
                <a:sym typeface="+mn-ea"/>
              </a:rPr>
              <a:t> </a:t>
            </a:r>
            <a:r>
              <a:rPr lang="en-GB" sz="1600" b="1">
                <a:sym typeface="+mn-ea"/>
              </a:rPr>
              <a:t>                                       </a:t>
            </a:r>
            <a:r>
              <a:rPr sz="1600" b="1">
                <a:sym typeface="+mn-ea"/>
              </a:rPr>
              <a:t>0096</a:t>
            </a:r>
            <a:endParaRPr sz="1600" b="1"/>
          </a:p>
          <a:p>
            <a:r>
              <a:rPr sz="1600" b="1"/>
              <a:t> </a:t>
            </a:r>
            <a:r>
              <a:rPr lang="en-GB" sz="1600" b="1"/>
              <a:t>        </a:t>
            </a:r>
            <a:r>
              <a:rPr sz="1600" b="1"/>
              <a:t>6,</a:t>
            </a:r>
            <a:r>
              <a:rPr lang="en-GB" sz="1600" b="1"/>
              <a:t> </a:t>
            </a:r>
            <a:r>
              <a:rPr sz="1600" b="1"/>
              <a:t>YONAS TEZERA ABUHAY</a:t>
            </a:r>
            <a:r>
              <a:rPr lang="en-GB" sz="1600" b="1"/>
              <a:t>                                                </a:t>
            </a:r>
            <a:r>
              <a:rPr sz="1600" b="1">
                <a:sym typeface="+mn-ea"/>
              </a:rPr>
              <a:t>0425 </a:t>
            </a:r>
            <a:endParaRPr sz="1600" b="1"/>
          </a:p>
          <a:p>
            <a:r>
              <a:rPr sz="1600" b="1"/>
              <a:t> </a:t>
            </a:r>
            <a:endParaRPr sz="1600" b="1"/>
          </a:p>
          <a:p>
            <a:pPr algn="r"/>
            <a:r>
              <a:rPr sz="1600"/>
              <a:t>Submitted to </a:t>
            </a:r>
            <a:r>
              <a:rPr lang="en-US" altLang="en-GB" sz="1600">
                <a:solidFill>
                  <a:srgbClr val="00B0F0"/>
                </a:solidFill>
              </a:rPr>
              <a:t>Mr. Chernet E</a:t>
            </a:r>
            <a:r>
              <a:rPr sz="1600">
                <a:solidFill>
                  <a:srgbClr val="00B0F0"/>
                </a:solidFill>
              </a:rPr>
              <a:t>.</a:t>
            </a:r>
            <a:endParaRPr sz="1600"/>
          </a:p>
          <a:p>
            <a:pPr algn="r"/>
            <a:r>
              <a:rPr sz="1600"/>
              <a:t> Kaffa, bonga, ethiopia </a:t>
            </a:r>
            <a:endParaRPr sz="1600"/>
          </a:p>
          <a:p>
            <a:pPr algn="r"/>
            <a:r>
              <a:rPr sz="1600"/>
              <a:t>Submission data </a:t>
            </a:r>
            <a:r>
              <a:rPr lang="en-GB" sz="1600"/>
              <a:t>25/03</a:t>
            </a:r>
            <a:r>
              <a:rPr sz="1600"/>
              <a:t>/2017 E.C</a:t>
            </a:r>
            <a:endParaRPr sz="1600"/>
          </a:p>
          <a:p>
            <a:r>
              <a:rPr sz="1600"/>
              <a:t> Together We Can!! 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NVIDIA L4 GPU – AI Inference &amp; Media Acceleration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0" indent="-457200" algn="just">
              <a:lnSpc>
                <a:spcPct val="80000"/>
              </a:lnSpc>
              <a:buFont typeface="Wingdings" panose="05000000000000000000" charset="0"/>
              <a:buChar char="o"/>
            </a:pPr>
            <a:r>
              <a:rPr lang="en-US" altLang="en-GB">
                <a:sym typeface="+mn-ea"/>
              </a:rPr>
              <a:t>High-efficiency accelerator for AI, graphics, and video</a:t>
            </a:r>
            <a:endParaRPr lang="en-US" altLang="en-GB"/>
          </a:p>
          <a:p>
            <a:pPr marL="457200" lvl="0" indent="-457200" algn="just">
              <a:lnSpc>
                <a:spcPct val="80000"/>
              </a:lnSpc>
              <a:buFont typeface="Wingdings" panose="05000000000000000000" charset="0"/>
              <a:buChar char="o"/>
            </a:pPr>
            <a:r>
              <a:rPr lang="en-US" altLang="en-GB">
                <a:sym typeface="+mn-ea"/>
              </a:rPr>
              <a:t>Based on NVIDIA Ada Lovelace Architecture</a:t>
            </a:r>
            <a:endParaRPr lang="en-US" altLang="en-GB"/>
          </a:p>
          <a:p>
            <a:pPr marL="457200" lvl="0" indent="-457200" algn="just">
              <a:lnSpc>
                <a:spcPct val="80000"/>
              </a:lnSpc>
              <a:buFont typeface="Wingdings" panose="05000000000000000000" charset="0"/>
              <a:buChar char="o"/>
            </a:pPr>
            <a:r>
              <a:rPr lang="en-US" altLang="en-GB">
                <a:sym typeface="+mn-ea"/>
              </a:rPr>
              <a:t>Ideal for modern data centers and cloud workloads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2650"/>
          </a:xfrm>
        </p:spPr>
        <p:txBody>
          <a:bodyPr/>
          <a:p>
            <a:r>
              <a:rPr lang="en-US" altLang="en-GB">
                <a:solidFill>
                  <a:schemeClr val="accent1"/>
                </a:solidFill>
              </a:rPr>
              <a:t>Ada Lovelace (AD104) Architecture</a:t>
            </a:r>
            <a:endParaRPr lang="en-US" altLang="en-GB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7775"/>
            <a:ext cx="10515600" cy="4929505"/>
          </a:xfrm>
        </p:spPr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GB"/>
              <a:t>4th-gen Tensor Cores (FP8, INT8, INT4 support)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3rd-gen RT Cores for real-time ray tracing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24 GB GDDR6 memory with ECC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70W TDP, single-slot, low-profile design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72 MB L2 cache + 307 GB/s memory bandwidth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>
            <a:normAutofit fontScale="90000"/>
          </a:bodyPr>
          <a:p>
            <a:r>
              <a:rPr lang="en-US" altLang="en-GB">
                <a:solidFill>
                  <a:schemeClr val="accent1"/>
                </a:solidFill>
              </a:rPr>
              <a:t>Launched: February 2023</a:t>
            </a:r>
            <a:br>
              <a:rPr lang="en-US" altLang="en-GB">
                <a:solidFill>
                  <a:schemeClr val="accent1"/>
                </a:solidFill>
              </a:rPr>
            </a:br>
            <a:r>
              <a:rPr lang="en-US" altLang="en-GB">
                <a:solidFill>
                  <a:schemeClr val="accent1"/>
                </a:solidFill>
              </a:rPr>
              <a:t>Why it was created:</a:t>
            </a:r>
            <a:endParaRPr lang="en-US" altLang="en-GB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7945"/>
            <a:ext cx="10515600" cy="4839335"/>
          </a:xfrm>
        </p:spPr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GB"/>
              <a:t>Meet surging demand for real-time AI inference (e.g., LLMs, image gen)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Enable energy-efficient, dense server deployments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Unify AI + video + graphics in one versatile GPU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Lower total cost of ownership vs. high-end data-center GPUs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450"/>
          </a:xfrm>
        </p:spPr>
        <p:txBody>
          <a:bodyPr>
            <a:normAutofit fontScale="90000"/>
          </a:bodyPr>
          <a:p>
            <a:r>
              <a:rPr lang="en-US" altLang="en-GB">
                <a:solidFill>
                  <a:schemeClr val="accent1"/>
                </a:solidFill>
              </a:rPr>
              <a:t> Key Differentiators</a:t>
            </a:r>
            <a:br>
              <a:rPr lang="en-US" altLang="en-GB">
                <a:solidFill>
                  <a:schemeClr val="accent1"/>
                </a:solidFill>
              </a:rPr>
            </a:br>
            <a:r>
              <a:rPr lang="en-US" altLang="en-GB">
                <a:solidFill>
                  <a:schemeClr val="accent1"/>
                </a:solidFill>
              </a:rPr>
              <a:t>What Sets L4 Apart?</a:t>
            </a:r>
            <a:endParaRPr lang="en-US" altLang="en-GB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" altLang="en-US"/>
              <a:t>️</a:t>
            </a:r>
            <a:r>
              <a:rPr lang="en-US" altLang="en-GB"/>
              <a:t> </a:t>
            </a:r>
            <a:r>
              <a:rPr lang="en-US" altLang="en-GB">
                <a:solidFill>
                  <a:srgbClr val="7030A0"/>
                </a:solidFill>
              </a:rPr>
              <a:t>Multi-workload</a:t>
            </a:r>
            <a:r>
              <a:rPr lang="en-US" altLang="en-GB"/>
              <a:t>: AI + video + graphics on one card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" altLang="en-US"/>
              <a:t>️</a:t>
            </a:r>
            <a:r>
              <a:rPr lang="en-US" altLang="en-GB"/>
              <a:t> </a:t>
            </a:r>
            <a:r>
              <a:rPr lang="en-US" altLang="en-GB">
                <a:solidFill>
                  <a:srgbClr val="7030A0"/>
                </a:solidFill>
              </a:rPr>
              <a:t>FP8 acceleration</a:t>
            </a:r>
            <a:r>
              <a:rPr lang="en-US" altLang="en-GB"/>
              <a:t>: 2</a:t>
            </a:r>
            <a:r>
              <a:rPr lang="en-US" altLang="en-US"/>
              <a:t>×</a:t>
            </a:r>
            <a:r>
              <a:rPr lang="en-US" altLang="en-GB"/>
              <a:t> faster LLM inference vs. FP16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" altLang="en-US"/>
              <a:t>️</a:t>
            </a:r>
            <a:r>
              <a:rPr lang="en-US" altLang="en-GB">
                <a:solidFill>
                  <a:srgbClr val="7030A0"/>
                </a:solidFill>
              </a:rPr>
              <a:t> 70W power</a:t>
            </a:r>
            <a:r>
              <a:rPr lang="en-US" altLang="en-GB"/>
              <a:t>: 4–8</a:t>
            </a:r>
            <a:r>
              <a:rPr lang="en-US" altLang="en-US"/>
              <a:t>×</a:t>
            </a:r>
            <a:r>
              <a:rPr lang="en-US" altLang="en-GB"/>
              <a:t> more GPUs per rack vs. A100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" altLang="en-US"/>
              <a:t>️</a:t>
            </a:r>
            <a:r>
              <a:rPr lang="en-US" altLang="en-GB"/>
              <a:t> </a:t>
            </a:r>
            <a:r>
              <a:rPr lang="en-US" altLang="en-GB">
                <a:solidFill>
                  <a:srgbClr val="7030A0"/>
                </a:solidFill>
              </a:rPr>
              <a:t>Video engine</a:t>
            </a:r>
            <a:r>
              <a:rPr lang="en-US" altLang="en-GB"/>
              <a:t>: Supports 8</a:t>
            </a:r>
            <a:r>
              <a:rPr lang="en-US" altLang="en-US"/>
              <a:t>×</a:t>
            </a:r>
            <a:r>
              <a:rPr lang="en-US" altLang="en-GB"/>
              <a:t> 4K60 or 1</a:t>
            </a:r>
            <a:r>
              <a:rPr lang="en-US" altLang="en-US"/>
              <a:t>×</a:t>
            </a:r>
            <a:r>
              <a:rPr lang="en-US" altLang="en-GB"/>
              <a:t> 8K video streams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" altLang="en-US"/>
              <a:t>️</a:t>
            </a:r>
            <a:r>
              <a:rPr lang="en-US" altLang="en-GB">
                <a:solidFill>
                  <a:srgbClr val="7030A0"/>
                </a:solidFill>
              </a:rPr>
              <a:t> vGPU ready</a:t>
            </a:r>
            <a:r>
              <a:rPr lang="en-US" altLang="en-GB"/>
              <a:t>: For virtual workstations &amp; cloud gaming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5990"/>
          </a:xfrm>
        </p:spPr>
        <p:txBody>
          <a:bodyPr>
            <a:normAutofit fontScale="90000"/>
          </a:bodyPr>
          <a:p>
            <a:r>
              <a:rPr lang="en-US" altLang="en-GB">
                <a:solidFill>
                  <a:schemeClr val="accent1"/>
                </a:solidFill>
              </a:rPr>
              <a:t>Pros &amp; Cons</a:t>
            </a:r>
            <a:br>
              <a:rPr lang="en-US" altLang="en-GB">
                <a:solidFill>
                  <a:schemeClr val="accent1"/>
                </a:solidFill>
              </a:rPr>
            </a:br>
            <a:r>
              <a:rPr lang="en-US" altLang="en-GB">
                <a:solidFill>
                  <a:schemeClr val="accent1"/>
                </a:solidFill>
              </a:rPr>
              <a:t>Advantages</a:t>
            </a:r>
            <a:endParaRPr lang="en-US" altLang="en-GB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GB"/>
              <a:t> Ultra-efficient inference (up to 1222 TOPS INT8)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 Low power, high density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Broad software stack (TensorRT, AI Enterprise)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r>
              <a:rPr lang="en-US" altLang="en-GB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Limitations</a:t>
            </a:r>
            <a:endParaRPr lang="en-US" altLang="en-GB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GB"/>
              <a:t> Not for large-model training</a:t>
            </a:r>
            <a:endParaRPr lang="en-US" altLang="en-GB"/>
          </a:p>
          <a:p>
            <a:pPr>
              <a:buFont typeface="Wingdings" panose="05000000000000000000" charset="0"/>
              <a:buChar char="v"/>
            </a:pPr>
            <a:r>
              <a:rPr lang="en-US" altLang="en-GB"/>
              <a:t> No NVLink or HBM memory</a:t>
            </a:r>
            <a:endParaRPr lang="en-US" altLang="en-GB"/>
          </a:p>
          <a:p>
            <a:pPr>
              <a:buFont typeface="Wingdings" panose="05000000000000000000" charset="0"/>
              <a:buChar char="v"/>
            </a:pPr>
            <a:r>
              <a:rPr lang="en-US" altLang="en-GB"/>
              <a:t> 24 GB VRAM limits very large models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>
                <a:solidFill>
                  <a:schemeClr val="accent1"/>
                </a:solidFill>
              </a:rPr>
              <a:t>Best Use Cases</a:t>
            </a:r>
            <a:br>
              <a:rPr lang="en-US" altLang="en-GB">
                <a:solidFill>
                  <a:schemeClr val="accent1"/>
                </a:solidFill>
              </a:rPr>
            </a:br>
            <a:r>
              <a:rPr lang="en-US" altLang="en-GB">
                <a:solidFill>
                  <a:schemeClr val="accent1"/>
                </a:solidFill>
              </a:rPr>
              <a:t>Recommended Workloads:</a:t>
            </a:r>
            <a:endParaRPr lang="en-US" altLang="en-GB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GB"/>
              <a:t>Generative AI inference (chatbots, image gen)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Cloud video transcoding (streaming, gaming)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Virtualized workstations (CAD, design)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Edge AI &amp; micro-data centers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Avoid for: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Training large foundation models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HPC or multi-GPU memory-intensive tasks</a:t>
            </a: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/>
              <a:t> </a:t>
            </a:r>
            <a:r>
              <a:rPr lang="en-US" altLang="en-GB">
                <a:solidFill>
                  <a:schemeClr val="accent1"/>
                </a:solidFill>
              </a:rPr>
              <a:t>Summary &amp; Recommendation</a:t>
            </a:r>
            <a:br>
              <a:rPr lang="en-US" altLang="en-GB">
                <a:solidFill>
                  <a:schemeClr val="accent1"/>
                </a:solidFill>
              </a:rPr>
            </a:br>
            <a:r>
              <a:rPr lang="en-US" altLang="en-GB">
                <a:solidFill>
                  <a:schemeClr val="accent1"/>
                </a:solidFill>
              </a:rPr>
              <a:t>L4 = The Efficient AI Inference Engine</a:t>
            </a:r>
            <a:endParaRPr lang="en-US" altLang="en-GB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GB"/>
              <a:t>Perfect balance of performance, power, and versatility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Ideal for scalable, cost-effective AI deployment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Deploy L4 when: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You need real-time AI at scale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Power, space, or budget are constrained</a:t>
            </a:r>
            <a:endParaRPr lang="en-US" altLang="en-GB"/>
          </a:p>
          <a:p>
            <a:pPr>
              <a:buFont typeface="Wingdings" panose="05000000000000000000" charset="0"/>
              <a:buChar char="q"/>
            </a:pPr>
            <a:r>
              <a:rPr lang="en-US" altLang="en-GB"/>
              <a:t>Workloads mix AI, video, and graphics</a:t>
            </a:r>
            <a:endParaRPr lang="en-US" alt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2640</Words>
  <Application>WPS Presentation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Administrator</dc:creator>
  <cp:lastModifiedBy>Molla Awoke</cp:lastModifiedBy>
  <cp:revision>3</cp:revision>
  <dcterms:created xsi:type="dcterms:W3CDTF">2025-07-23T00:59:00Z</dcterms:created>
  <dcterms:modified xsi:type="dcterms:W3CDTF">2025-12-02T08:09:03Z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C2E5E9A2F99D41A59AD146ED5FCBD5CC_11</vt:lpwstr>
  </property>
  <property fmtid="{D5CDD505-2E9C-101B-9397-08002B2CF9AE}" pid="3" name="KSOProductBuildVer">
    <vt:lpwstr>2057-12.2.0.23155</vt:lpwstr>
  </property>
</Properties>
</file>